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Sensei" charset="1" panose="00000500000000000000"/>
      <p:regular r:id="rId14"/>
    </p:embeddedFont>
    <p:embeddedFont>
      <p:font typeface="DG Jory" charset="1" panose="02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30.png" Type="http://schemas.openxmlformats.org/officeDocument/2006/relationships/image"/><Relationship Id="rId14" Target="../media/image31.svg" Type="http://schemas.openxmlformats.org/officeDocument/2006/relationships/image"/><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4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3193925">
            <a:off x="1560800" y="5083265"/>
            <a:ext cx="2950360" cy="5021889"/>
          </a:xfrm>
          <a:custGeom>
            <a:avLst/>
            <a:gdLst/>
            <a:ahLst/>
            <a:cxnLst/>
            <a:rect r="r" b="b" t="t" l="l"/>
            <a:pathLst>
              <a:path h="5021889" w="2950360">
                <a:moveTo>
                  <a:pt x="0" y="0"/>
                </a:moveTo>
                <a:lnTo>
                  <a:pt x="2950360" y="0"/>
                </a:lnTo>
                <a:lnTo>
                  <a:pt x="2950360" y="5021889"/>
                </a:lnTo>
                <a:lnTo>
                  <a:pt x="0" y="5021889"/>
                </a:lnTo>
                <a:lnTo>
                  <a:pt x="0" y="0"/>
                </a:lnTo>
                <a:close/>
              </a:path>
            </a:pathLst>
          </a:custGeom>
          <a:blipFill>
            <a:blip r:embed="rId5"/>
            <a:stretch>
              <a:fillRect l="0" t="0" r="0" b="0"/>
            </a:stretch>
          </a:blipFill>
        </p:spPr>
      </p:sp>
      <p:sp>
        <p:nvSpPr>
          <p:cNvPr name="Freeform 5" id="5"/>
          <p:cNvSpPr/>
          <p:nvPr/>
        </p:nvSpPr>
        <p:spPr>
          <a:xfrm flipH="false" flipV="false" rot="0">
            <a:off x="2265357" y="1273649"/>
            <a:ext cx="3051039" cy="4034432"/>
          </a:xfrm>
          <a:custGeom>
            <a:avLst/>
            <a:gdLst/>
            <a:ahLst/>
            <a:cxnLst/>
            <a:rect r="r" b="b" t="t" l="l"/>
            <a:pathLst>
              <a:path h="4034432" w="3051039">
                <a:moveTo>
                  <a:pt x="0" y="0"/>
                </a:moveTo>
                <a:lnTo>
                  <a:pt x="3051040" y="0"/>
                </a:lnTo>
                <a:lnTo>
                  <a:pt x="3051040" y="4034432"/>
                </a:lnTo>
                <a:lnTo>
                  <a:pt x="0" y="4034432"/>
                </a:lnTo>
                <a:lnTo>
                  <a:pt x="0" y="0"/>
                </a:lnTo>
                <a:close/>
              </a:path>
            </a:pathLst>
          </a:custGeom>
          <a:blipFill>
            <a:blip r:embed="rId6"/>
            <a:stretch>
              <a:fillRect l="0" t="0" r="0" b="0"/>
            </a:stretch>
          </a:blipFill>
        </p:spPr>
      </p:sp>
      <p:sp>
        <p:nvSpPr>
          <p:cNvPr name="Freeform 6" id="6"/>
          <p:cNvSpPr/>
          <p:nvPr/>
        </p:nvSpPr>
        <p:spPr>
          <a:xfrm flipH="false" flipV="false" rot="0">
            <a:off x="12649345" y="1500859"/>
            <a:ext cx="5054378" cy="3083171"/>
          </a:xfrm>
          <a:custGeom>
            <a:avLst/>
            <a:gdLst/>
            <a:ahLst/>
            <a:cxnLst/>
            <a:rect r="r" b="b" t="t" l="l"/>
            <a:pathLst>
              <a:path h="3083171" w="5054378">
                <a:moveTo>
                  <a:pt x="0" y="0"/>
                </a:moveTo>
                <a:lnTo>
                  <a:pt x="5054379" y="0"/>
                </a:lnTo>
                <a:lnTo>
                  <a:pt x="5054379" y="3083171"/>
                </a:lnTo>
                <a:lnTo>
                  <a:pt x="0" y="3083171"/>
                </a:lnTo>
                <a:lnTo>
                  <a:pt x="0" y="0"/>
                </a:lnTo>
                <a:close/>
              </a:path>
            </a:pathLst>
          </a:custGeom>
          <a:blipFill>
            <a:blip r:embed="rId7"/>
            <a:stretch>
              <a:fillRect l="0" t="0" r="0" b="0"/>
            </a:stretch>
          </a:blipFill>
        </p:spPr>
      </p:sp>
      <p:sp>
        <p:nvSpPr>
          <p:cNvPr name="Freeform 7" id="7"/>
          <p:cNvSpPr/>
          <p:nvPr/>
        </p:nvSpPr>
        <p:spPr>
          <a:xfrm flipH="false" flipV="false" rot="0">
            <a:off x="13556788" y="6524214"/>
            <a:ext cx="3715311" cy="3583629"/>
          </a:xfrm>
          <a:custGeom>
            <a:avLst/>
            <a:gdLst/>
            <a:ahLst/>
            <a:cxnLst/>
            <a:rect r="r" b="b" t="t" l="l"/>
            <a:pathLst>
              <a:path h="3583629" w="3715311">
                <a:moveTo>
                  <a:pt x="0" y="0"/>
                </a:moveTo>
                <a:lnTo>
                  <a:pt x="3715311" y="0"/>
                </a:lnTo>
                <a:lnTo>
                  <a:pt x="3715311" y="3583628"/>
                </a:lnTo>
                <a:lnTo>
                  <a:pt x="0" y="3583628"/>
                </a:lnTo>
                <a:lnTo>
                  <a:pt x="0" y="0"/>
                </a:lnTo>
                <a:close/>
              </a:path>
            </a:pathLst>
          </a:custGeom>
          <a:blipFill>
            <a:blip r:embed="rId8"/>
            <a:stretch>
              <a:fillRect l="0" t="0" r="0" b="0"/>
            </a:stretch>
          </a:blipFill>
        </p:spPr>
      </p:sp>
      <p:sp>
        <p:nvSpPr>
          <p:cNvPr name="Freeform 8" id="8"/>
          <p:cNvSpPr/>
          <p:nvPr/>
        </p:nvSpPr>
        <p:spPr>
          <a:xfrm flipH="false" flipV="false" rot="0">
            <a:off x="7279430" y="8284236"/>
            <a:ext cx="4309843" cy="1885556"/>
          </a:xfrm>
          <a:custGeom>
            <a:avLst/>
            <a:gdLst/>
            <a:ahLst/>
            <a:cxnLst/>
            <a:rect r="r" b="b" t="t" l="l"/>
            <a:pathLst>
              <a:path h="1885556" w="4309843">
                <a:moveTo>
                  <a:pt x="0" y="0"/>
                </a:moveTo>
                <a:lnTo>
                  <a:pt x="4309844" y="0"/>
                </a:lnTo>
                <a:lnTo>
                  <a:pt x="4309844" y="1885557"/>
                </a:lnTo>
                <a:lnTo>
                  <a:pt x="0" y="1885557"/>
                </a:lnTo>
                <a:lnTo>
                  <a:pt x="0" y="0"/>
                </a:lnTo>
                <a:close/>
              </a:path>
            </a:pathLst>
          </a:custGeom>
          <a:blipFill>
            <a:blip r:embed="rId9"/>
            <a:stretch>
              <a:fillRect l="0" t="0" r="0" b="0"/>
            </a:stretch>
          </a:blipFill>
        </p:spPr>
      </p:sp>
      <p:sp>
        <p:nvSpPr>
          <p:cNvPr name="TextBox 9" id="9"/>
          <p:cNvSpPr txBox="true"/>
          <p:nvPr/>
        </p:nvSpPr>
        <p:spPr>
          <a:xfrm rot="0">
            <a:off x="3759124" y="2043095"/>
            <a:ext cx="11202198" cy="1841447"/>
          </a:xfrm>
          <a:prstGeom prst="rect">
            <a:avLst/>
          </a:prstGeom>
        </p:spPr>
        <p:txBody>
          <a:bodyPr anchor="t" rtlCol="false" tIns="0" lIns="0" bIns="0" rIns="0">
            <a:spAutoFit/>
          </a:bodyPr>
          <a:lstStyle/>
          <a:p>
            <a:pPr algn="ctr" marL="0" indent="0" lvl="0">
              <a:lnSpc>
                <a:spcPts val="15052"/>
              </a:lnSpc>
            </a:pPr>
            <a:r>
              <a:rPr lang="en-US" sz="10752">
                <a:solidFill>
                  <a:srgbClr val="B53326"/>
                </a:solidFill>
                <a:latin typeface="Sensei"/>
                <a:ea typeface="Sensei"/>
                <a:cs typeface="Sensei"/>
                <a:sym typeface="Sensei"/>
              </a:rPr>
              <a:t>Jesus Established</a:t>
            </a:r>
          </a:p>
        </p:txBody>
      </p:sp>
      <p:sp>
        <p:nvSpPr>
          <p:cNvPr name="TextBox 10" id="10"/>
          <p:cNvSpPr txBox="true"/>
          <p:nvPr/>
        </p:nvSpPr>
        <p:spPr>
          <a:xfrm rot="0">
            <a:off x="3759124" y="4095577"/>
            <a:ext cx="11202198" cy="1841447"/>
          </a:xfrm>
          <a:prstGeom prst="rect">
            <a:avLst/>
          </a:prstGeom>
        </p:spPr>
        <p:txBody>
          <a:bodyPr anchor="t" rtlCol="false" tIns="0" lIns="0" bIns="0" rIns="0">
            <a:spAutoFit/>
          </a:bodyPr>
          <a:lstStyle/>
          <a:p>
            <a:pPr algn="ctr" marL="0" indent="0" lvl="0">
              <a:lnSpc>
                <a:spcPts val="15052"/>
              </a:lnSpc>
            </a:pPr>
            <a:r>
              <a:rPr lang="en-US" sz="10752">
                <a:solidFill>
                  <a:srgbClr val="B53326"/>
                </a:solidFill>
                <a:latin typeface="Sensei"/>
                <a:ea typeface="Sensei"/>
                <a:cs typeface="Sensei"/>
                <a:sym typeface="Sensei"/>
              </a:rPr>
              <a:t>the Holy Eucharist</a:t>
            </a:r>
          </a:p>
        </p:txBody>
      </p:sp>
      <p:sp>
        <p:nvSpPr>
          <p:cNvPr name="TextBox 11" id="11"/>
          <p:cNvSpPr txBox="true"/>
          <p:nvPr/>
        </p:nvSpPr>
        <p:spPr>
          <a:xfrm rot="0">
            <a:off x="5851262" y="7158253"/>
            <a:ext cx="7017922" cy="622319"/>
          </a:xfrm>
          <a:prstGeom prst="rect">
            <a:avLst/>
          </a:prstGeom>
        </p:spPr>
        <p:txBody>
          <a:bodyPr anchor="t" rtlCol="false" tIns="0" lIns="0" bIns="0" rIns="0">
            <a:spAutoFit/>
          </a:bodyPr>
          <a:lstStyle/>
          <a:p>
            <a:pPr algn="ctr" marL="0" indent="0" lvl="0">
              <a:lnSpc>
                <a:spcPts val="5073"/>
              </a:lnSpc>
            </a:pPr>
            <a:r>
              <a:rPr lang="en-US" sz="3624" spc="202">
                <a:solidFill>
                  <a:srgbClr val="B53326"/>
                </a:solidFill>
                <a:latin typeface="DG Jory"/>
                <a:ea typeface="DG Jory"/>
                <a:cs typeface="DG Jory"/>
                <a:sym typeface="DG Jory"/>
              </a:rPr>
              <a:t>Grade 3 · Religion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3974460" y="3145354"/>
            <a:ext cx="10401404" cy="1479088"/>
          </a:xfrm>
          <a:prstGeom prst="rect">
            <a:avLst/>
          </a:prstGeom>
        </p:spPr>
        <p:txBody>
          <a:bodyPr anchor="t" rtlCol="false" tIns="0" lIns="0" bIns="0" rIns="0">
            <a:spAutoFit/>
          </a:bodyPr>
          <a:lstStyle/>
          <a:p>
            <a:pPr algn="just" marL="0" indent="0" lvl="0">
              <a:lnSpc>
                <a:spcPts val="3939"/>
              </a:lnSpc>
            </a:pPr>
            <a:r>
              <a:rPr lang="en-US" sz="2813" spc="157">
                <a:solidFill>
                  <a:srgbClr val="B53326"/>
                </a:solidFill>
                <a:latin typeface="DG Jory"/>
                <a:ea typeface="DG Jory"/>
                <a:cs typeface="DG Jory"/>
                <a:sym typeface="DG Jory"/>
              </a:rPr>
              <a:t>The night before Jesus died, He shared a very special meal with His 12 friends called the Apostles. This meal is called the Last Supper!</a:t>
            </a:r>
          </a:p>
        </p:txBody>
      </p:sp>
      <p:sp>
        <p:nvSpPr>
          <p:cNvPr name="Freeform 5" id="5"/>
          <p:cNvSpPr/>
          <p:nvPr/>
        </p:nvSpPr>
        <p:spPr>
          <a:xfrm flipH="false" flipV="false" rot="0">
            <a:off x="13738024" y="6894239"/>
            <a:ext cx="4941269" cy="3353886"/>
          </a:xfrm>
          <a:custGeom>
            <a:avLst/>
            <a:gdLst/>
            <a:ahLst/>
            <a:cxnLst/>
            <a:rect r="r" b="b" t="t" l="l"/>
            <a:pathLst>
              <a:path h="3353886" w="4941269">
                <a:moveTo>
                  <a:pt x="0" y="0"/>
                </a:moveTo>
                <a:lnTo>
                  <a:pt x="4941269" y="0"/>
                </a:lnTo>
                <a:lnTo>
                  <a:pt x="4941269" y="3353886"/>
                </a:lnTo>
                <a:lnTo>
                  <a:pt x="0" y="3353886"/>
                </a:lnTo>
                <a:lnTo>
                  <a:pt x="0" y="0"/>
                </a:lnTo>
                <a:close/>
              </a:path>
            </a:pathLst>
          </a:custGeom>
          <a:blipFill>
            <a:blip r:embed="rId5"/>
            <a:stretch>
              <a:fillRect l="0" t="0" r="0" b="0"/>
            </a:stretch>
          </a:blipFill>
        </p:spPr>
      </p:sp>
      <p:sp>
        <p:nvSpPr>
          <p:cNvPr name="Freeform 6" id="6"/>
          <p:cNvSpPr/>
          <p:nvPr/>
        </p:nvSpPr>
        <p:spPr>
          <a:xfrm flipH="false" flipV="false" rot="0">
            <a:off x="599269" y="6842234"/>
            <a:ext cx="2753306" cy="4132542"/>
          </a:xfrm>
          <a:custGeom>
            <a:avLst/>
            <a:gdLst/>
            <a:ahLst/>
            <a:cxnLst/>
            <a:rect r="r" b="b" t="t" l="l"/>
            <a:pathLst>
              <a:path h="4132542" w="2753306">
                <a:moveTo>
                  <a:pt x="0" y="0"/>
                </a:moveTo>
                <a:lnTo>
                  <a:pt x="2753306" y="0"/>
                </a:lnTo>
                <a:lnTo>
                  <a:pt x="2753306" y="4132542"/>
                </a:lnTo>
                <a:lnTo>
                  <a:pt x="0" y="4132542"/>
                </a:lnTo>
                <a:lnTo>
                  <a:pt x="0" y="0"/>
                </a:lnTo>
                <a:close/>
              </a:path>
            </a:pathLst>
          </a:custGeom>
          <a:blipFill>
            <a:blip r:embed="rId6"/>
            <a:stretch>
              <a:fillRect l="0" t="0" r="0" b="0"/>
            </a:stretch>
          </a:blipFill>
        </p:spPr>
      </p:sp>
      <p:sp>
        <p:nvSpPr>
          <p:cNvPr name="Freeform 7" id="7"/>
          <p:cNvSpPr/>
          <p:nvPr/>
        </p:nvSpPr>
        <p:spPr>
          <a:xfrm flipH="false" flipV="false" rot="0">
            <a:off x="15159659" y="912896"/>
            <a:ext cx="2534895" cy="2076866"/>
          </a:xfrm>
          <a:custGeom>
            <a:avLst/>
            <a:gdLst/>
            <a:ahLst/>
            <a:cxnLst/>
            <a:rect r="r" b="b" t="t" l="l"/>
            <a:pathLst>
              <a:path h="2076866" w="2534895">
                <a:moveTo>
                  <a:pt x="0" y="0"/>
                </a:moveTo>
                <a:lnTo>
                  <a:pt x="2534896" y="0"/>
                </a:lnTo>
                <a:lnTo>
                  <a:pt x="2534896" y="2076866"/>
                </a:lnTo>
                <a:lnTo>
                  <a:pt x="0" y="2076866"/>
                </a:lnTo>
                <a:lnTo>
                  <a:pt x="0" y="0"/>
                </a:lnTo>
                <a:close/>
              </a:path>
            </a:pathLst>
          </a:custGeom>
          <a:blipFill>
            <a:blip r:embed="rId7"/>
            <a:stretch>
              <a:fillRect l="0" t="0" r="0" b="0"/>
            </a:stretch>
          </a:blipFill>
        </p:spPr>
      </p:sp>
      <p:sp>
        <p:nvSpPr>
          <p:cNvPr name="Freeform 8" id="8"/>
          <p:cNvSpPr/>
          <p:nvPr/>
        </p:nvSpPr>
        <p:spPr>
          <a:xfrm flipH="false" flipV="false" rot="0">
            <a:off x="36131" y="23071"/>
            <a:ext cx="4276054" cy="4017902"/>
          </a:xfrm>
          <a:custGeom>
            <a:avLst/>
            <a:gdLst/>
            <a:ahLst/>
            <a:cxnLst/>
            <a:rect r="r" b="b" t="t" l="l"/>
            <a:pathLst>
              <a:path h="4017902" w="4276054">
                <a:moveTo>
                  <a:pt x="0" y="0"/>
                </a:moveTo>
                <a:lnTo>
                  <a:pt x="4276054" y="0"/>
                </a:lnTo>
                <a:lnTo>
                  <a:pt x="4276054" y="4017902"/>
                </a:lnTo>
                <a:lnTo>
                  <a:pt x="0" y="4017902"/>
                </a:lnTo>
                <a:lnTo>
                  <a:pt x="0" y="0"/>
                </a:lnTo>
                <a:close/>
              </a:path>
            </a:pathLst>
          </a:custGeom>
          <a:blipFill>
            <a:blip r:embed="rId8"/>
            <a:stretch>
              <a:fillRect l="0" t="0" r="0" b="0"/>
            </a:stretch>
          </a:blipFill>
        </p:spPr>
      </p:sp>
      <p:sp>
        <p:nvSpPr>
          <p:cNvPr name="TextBox 9" id="9"/>
          <p:cNvSpPr txBox="true"/>
          <p:nvPr/>
        </p:nvSpPr>
        <p:spPr>
          <a:xfrm rot="0">
            <a:off x="4254768" y="1525271"/>
            <a:ext cx="9840789" cy="1257438"/>
          </a:xfrm>
          <a:prstGeom prst="rect">
            <a:avLst/>
          </a:prstGeom>
        </p:spPr>
        <p:txBody>
          <a:bodyPr anchor="t" rtlCol="false" tIns="0" lIns="0" bIns="0" rIns="0">
            <a:spAutoFit/>
          </a:bodyPr>
          <a:lstStyle/>
          <a:p>
            <a:pPr algn="ctr" marL="0" indent="0" lvl="0">
              <a:lnSpc>
                <a:spcPts val="10239"/>
              </a:lnSpc>
            </a:pPr>
            <a:r>
              <a:rPr lang="en-US" sz="7313">
                <a:solidFill>
                  <a:srgbClr val="B53326"/>
                </a:solidFill>
                <a:latin typeface="Sensei"/>
                <a:ea typeface="Sensei"/>
                <a:cs typeface="Sensei"/>
                <a:sym typeface="Sensei"/>
              </a:rPr>
              <a:t>The Last Supper</a:t>
            </a:r>
          </a:p>
        </p:txBody>
      </p:sp>
      <p:sp>
        <p:nvSpPr>
          <p:cNvPr name="TextBox 10" id="10"/>
          <p:cNvSpPr txBox="true"/>
          <p:nvPr/>
        </p:nvSpPr>
        <p:spPr>
          <a:xfrm rot="0">
            <a:off x="3972335" y="5615634"/>
            <a:ext cx="10401404" cy="1479088"/>
          </a:xfrm>
          <a:prstGeom prst="rect">
            <a:avLst/>
          </a:prstGeom>
        </p:spPr>
        <p:txBody>
          <a:bodyPr anchor="t" rtlCol="false" tIns="0" lIns="0" bIns="0" rIns="0">
            <a:spAutoFit/>
          </a:bodyPr>
          <a:lstStyle/>
          <a:p>
            <a:pPr algn="just" marL="0" indent="0" lvl="0">
              <a:lnSpc>
                <a:spcPts val="3939"/>
              </a:lnSpc>
            </a:pPr>
            <a:r>
              <a:rPr lang="en-US" sz="2813" spc="157">
                <a:solidFill>
                  <a:srgbClr val="B53326"/>
                </a:solidFill>
                <a:latin typeface="DG Jory"/>
                <a:ea typeface="DG Jory"/>
                <a:cs typeface="DG Jory"/>
                <a:sym typeface="DG Jory"/>
              </a:rPr>
              <a:t>At the meal, Jesus took bread and wine. He blessed them and said, "Do this in memory of Me." (Luke 22:19) He gave us the greatest gift — Himself!</a:t>
            </a:r>
          </a:p>
        </p:txBody>
      </p:sp>
    </p:spTree>
  </p:cSld>
  <p:clrMapOvr>
    <a:masterClrMapping/>
  </p:clrMapOvr>
  <p:transition spd="med">
    <p:circl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10225166" y="3212029"/>
            <a:ext cx="3963810" cy="396381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195315" y="0"/>
                  </a:moveTo>
                  <a:lnTo>
                    <a:pt x="617485" y="0"/>
                  </a:lnTo>
                  <a:cubicBezTo>
                    <a:pt x="669286" y="0"/>
                    <a:pt x="718965" y="20578"/>
                    <a:pt x="755594" y="57206"/>
                  </a:cubicBezTo>
                  <a:cubicBezTo>
                    <a:pt x="792222" y="93835"/>
                    <a:pt x="812800" y="143514"/>
                    <a:pt x="812800" y="195315"/>
                  </a:cubicBezTo>
                  <a:lnTo>
                    <a:pt x="812800" y="617485"/>
                  </a:lnTo>
                  <a:cubicBezTo>
                    <a:pt x="812800" y="669286"/>
                    <a:pt x="792222" y="718965"/>
                    <a:pt x="755594" y="755594"/>
                  </a:cubicBezTo>
                  <a:cubicBezTo>
                    <a:pt x="718965" y="792222"/>
                    <a:pt x="669286" y="812800"/>
                    <a:pt x="617485" y="812800"/>
                  </a:cubicBezTo>
                  <a:lnTo>
                    <a:pt x="195315" y="812800"/>
                  </a:lnTo>
                  <a:cubicBezTo>
                    <a:pt x="143514" y="812800"/>
                    <a:pt x="93835" y="792222"/>
                    <a:pt x="57206" y="755594"/>
                  </a:cubicBezTo>
                  <a:cubicBezTo>
                    <a:pt x="20578" y="718965"/>
                    <a:pt x="0" y="669286"/>
                    <a:pt x="0" y="617485"/>
                  </a:cubicBezTo>
                  <a:lnTo>
                    <a:pt x="0" y="195315"/>
                  </a:lnTo>
                  <a:cubicBezTo>
                    <a:pt x="0" y="143514"/>
                    <a:pt x="20578" y="93835"/>
                    <a:pt x="57206" y="57206"/>
                  </a:cubicBezTo>
                  <a:cubicBezTo>
                    <a:pt x="93835" y="20578"/>
                    <a:pt x="143514" y="0"/>
                    <a:pt x="195315" y="0"/>
                  </a:cubicBezTo>
                  <a:close/>
                </a:path>
              </a:pathLst>
            </a:custGeom>
            <a:blipFill>
              <a:blip r:embed="rId5"/>
              <a:stretch>
                <a:fillRect l="0" t="0" r="0" b="0"/>
              </a:stretch>
            </a:blipFill>
          </p:spPr>
        </p:sp>
      </p:grpSp>
      <p:sp>
        <p:nvSpPr>
          <p:cNvPr name="Freeform 6" id="6"/>
          <p:cNvSpPr/>
          <p:nvPr/>
        </p:nvSpPr>
        <p:spPr>
          <a:xfrm flipH="true" flipV="false" rot="0">
            <a:off x="13613516" y="-1545253"/>
            <a:ext cx="4775404" cy="5242460"/>
          </a:xfrm>
          <a:custGeom>
            <a:avLst/>
            <a:gdLst/>
            <a:ahLst/>
            <a:cxnLst/>
            <a:rect r="r" b="b" t="t" l="l"/>
            <a:pathLst>
              <a:path h="5242460" w="4775404">
                <a:moveTo>
                  <a:pt x="4775404" y="0"/>
                </a:moveTo>
                <a:lnTo>
                  <a:pt x="0" y="0"/>
                </a:lnTo>
                <a:lnTo>
                  <a:pt x="0" y="5242460"/>
                </a:lnTo>
                <a:lnTo>
                  <a:pt x="4775404" y="5242460"/>
                </a:lnTo>
                <a:lnTo>
                  <a:pt x="47754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613516" y="7837333"/>
            <a:ext cx="4775404" cy="2538923"/>
          </a:xfrm>
          <a:custGeom>
            <a:avLst/>
            <a:gdLst/>
            <a:ahLst/>
            <a:cxnLst/>
            <a:rect r="r" b="b" t="t" l="l"/>
            <a:pathLst>
              <a:path h="2538923" w="4775404">
                <a:moveTo>
                  <a:pt x="0" y="0"/>
                </a:moveTo>
                <a:lnTo>
                  <a:pt x="4775404" y="0"/>
                </a:lnTo>
                <a:lnTo>
                  <a:pt x="4775404" y="2538923"/>
                </a:lnTo>
                <a:lnTo>
                  <a:pt x="0" y="2538923"/>
                </a:lnTo>
                <a:lnTo>
                  <a:pt x="0" y="0"/>
                </a:lnTo>
                <a:close/>
              </a:path>
            </a:pathLst>
          </a:custGeom>
          <a:blipFill>
            <a:blip r:embed="rId8"/>
            <a:stretch>
              <a:fillRect l="0" t="0" r="0" b="0"/>
            </a:stretch>
          </a:blipFill>
        </p:spPr>
      </p:sp>
      <p:sp>
        <p:nvSpPr>
          <p:cNvPr name="Freeform 8" id="8"/>
          <p:cNvSpPr/>
          <p:nvPr/>
        </p:nvSpPr>
        <p:spPr>
          <a:xfrm flipH="false" flipV="false" rot="0">
            <a:off x="911816" y="598209"/>
            <a:ext cx="3139499" cy="2905463"/>
          </a:xfrm>
          <a:custGeom>
            <a:avLst/>
            <a:gdLst/>
            <a:ahLst/>
            <a:cxnLst/>
            <a:rect r="r" b="b" t="t" l="l"/>
            <a:pathLst>
              <a:path h="2905463" w="3139499">
                <a:moveTo>
                  <a:pt x="0" y="0"/>
                </a:moveTo>
                <a:lnTo>
                  <a:pt x="3139498" y="0"/>
                </a:lnTo>
                <a:lnTo>
                  <a:pt x="3139498" y="2905463"/>
                </a:lnTo>
                <a:lnTo>
                  <a:pt x="0" y="29054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0" y="8360017"/>
            <a:ext cx="6680312" cy="2016240"/>
          </a:xfrm>
          <a:custGeom>
            <a:avLst/>
            <a:gdLst/>
            <a:ahLst/>
            <a:cxnLst/>
            <a:rect r="r" b="b" t="t" l="l"/>
            <a:pathLst>
              <a:path h="2016240" w="6680312">
                <a:moveTo>
                  <a:pt x="0" y="0"/>
                </a:moveTo>
                <a:lnTo>
                  <a:pt x="6680312" y="0"/>
                </a:lnTo>
                <a:lnTo>
                  <a:pt x="6680312" y="2016239"/>
                </a:lnTo>
                <a:lnTo>
                  <a:pt x="0" y="20162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4254768" y="3145354"/>
            <a:ext cx="5360798" cy="4854263"/>
          </a:xfrm>
          <a:prstGeom prst="rect">
            <a:avLst/>
          </a:prstGeom>
        </p:spPr>
        <p:txBody>
          <a:bodyPr anchor="t" rtlCol="false" tIns="0" lIns="0" bIns="0" rIns="0">
            <a:spAutoFit/>
          </a:bodyPr>
          <a:lstStyle/>
          <a:p>
            <a:pPr algn="just" marL="0" indent="0" lvl="0">
              <a:lnSpc>
                <a:spcPts val="3867"/>
              </a:lnSpc>
            </a:pPr>
            <a:r>
              <a:rPr lang="en-US" sz="2762" spc="154">
                <a:solidFill>
                  <a:srgbClr val="B53326"/>
                </a:solidFill>
                <a:latin typeface="DG Jory"/>
                <a:ea typeface="DG Jory"/>
                <a:cs typeface="DG Jory"/>
                <a:sym typeface="DG Jory"/>
              </a:rPr>
              <a:t>"Do this in remembrance of me."</a:t>
            </a:r>
          </a:p>
          <a:p>
            <a:pPr algn="just" marL="596378" indent="-298189" lvl="1">
              <a:lnSpc>
                <a:spcPts val="3867"/>
              </a:lnSpc>
              <a:buFont typeface="Arial"/>
              <a:buChar char="•"/>
            </a:pPr>
            <a:r>
              <a:rPr lang="en-US" sz="2762" spc="154">
                <a:solidFill>
                  <a:srgbClr val="B53326"/>
                </a:solidFill>
                <a:latin typeface="DG Jory"/>
                <a:ea typeface="DG Jory"/>
                <a:cs typeface="DG Jory"/>
                <a:sym typeface="DG Jory"/>
              </a:rPr>
              <a:t>Luke 22:19</a:t>
            </a:r>
          </a:p>
          <a:p>
            <a:pPr algn="just" marL="0" indent="0" lvl="0">
              <a:lnSpc>
                <a:spcPts val="3867"/>
              </a:lnSpc>
            </a:pPr>
            <a:r>
              <a:rPr lang="en-US" sz="2762" spc="154">
                <a:solidFill>
                  <a:srgbClr val="B53326"/>
                </a:solidFill>
                <a:latin typeface="DG Jory"/>
                <a:ea typeface="DG Jory"/>
                <a:cs typeface="DG Jory"/>
                <a:sym typeface="DG Jory"/>
              </a:rPr>
              <a:t>At the Last Supper, Jesus took bread, gave thanks, and shared it with His friends. He said, "This is my body, given for you."</a:t>
            </a:r>
          </a:p>
          <a:p>
            <a:pPr algn="just" marL="0" indent="0" lvl="0">
              <a:lnSpc>
                <a:spcPts val="3867"/>
              </a:lnSpc>
            </a:pPr>
            <a:r>
              <a:rPr lang="en-US" sz="2762" spc="154">
                <a:solidFill>
                  <a:srgbClr val="B53326"/>
                </a:solidFill>
                <a:latin typeface="DG Jory"/>
                <a:ea typeface="DG Jory"/>
                <a:cs typeface="DG Jory"/>
                <a:sym typeface="DG Jory"/>
              </a:rPr>
              <a:t>Jesus asks us to remember Him every time we receive the Eucharist. It is His special gift of love for us! 💛</a:t>
            </a:r>
          </a:p>
        </p:txBody>
      </p:sp>
      <p:sp>
        <p:nvSpPr>
          <p:cNvPr name="TextBox 11" id="11"/>
          <p:cNvSpPr txBox="true"/>
          <p:nvPr/>
        </p:nvSpPr>
        <p:spPr>
          <a:xfrm rot="0">
            <a:off x="4254768" y="1525271"/>
            <a:ext cx="9840789" cy="1257438"/>
          </a:xfrm>
          <a:prstGeom prst="rect">
            <a:avLst/>
          </a:prstGeom>
        </p:spPr>
        <p:txBody>
          <a:bodyPr anchor="t" rtlCol="false" tIns="0" lIns="0" bIns="0" rIns="0">
            <a:spAutoFit/>
          </a:bodyPr>
          <a:lstStyle/>
          <a:p>
            <a:pPr algn="ctr" marL="0" indent="0" lvl="0">
              <a:lnSpc>
                <a:spcPts val="10239"/>
              </a:lnSpc>
            </a:pPr>
            <a:r>
              <a:rPr lang="en-US" sz="7313">
                <a:solidFill>
                  <a:srgbClr val="B53326"/>
                </a:solidFill>
                <a:latin typeface="Sensei"/>
                <a:ea typeface="Sensei"/>
                <a:cs typeface="Sensei"/>
                <a:sym typeface="Sensei"/>
              </a:rPr>
              <a:t>Luke 22:19</a:t>
            </a:r>
          </a:p>
        </p:txBody>
      </p:sp>
    </p:spTree>
  </p:cSld>
  <p:clrMapOvr>
    <a:masterClrMapping/>
  </p:clrMapOvr>
  <p:transition spd="med">
    <p:circl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3193925">
            <a:off x="-280381" y="7186397"/>
            <a:ext cx="2134206" cy="4514668"/>
          </a:xfrm>
          <a:custGeom>
            <a:avLst/>
            <a:gdLst/>
            <a:ahLst/>
            <a:cxnLst/>
            <a:rect r="r" b="b" t="t" l="l"/>
            <a:pathLst>
              <a:path h="4514668" w="2134206">
                <a:moveTo>
                  <a:pt x="0" y="0"/>
                </a:moveTo>
                <a:lnTo>
                  <a:pt x="2134206" y="0"/>
                </a:lnTo>
                <a:lnTo>
                  <a:pt x="2134206" y="4514667"/>
                </a:lnTo>
                <a:lnTo>
                  <a:pt x="0" y="451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96029" y="1712235"/>
            <a:ext cx="3124571" cy="2999588"/>
          </a:xfrm>
          <a:custGeom>
            <a:avLst/>
            <a:gdLst/>
            <a:ahLst/>
            <a:cxnLst/>
            <a:rect r="r" b="b" t="t" l="l"/>
            <a:pathLst>
              <a:path h="2999588" w="3124571">
                <a:moveTo>
                  <a:pt x="0" y="0"/>
                </a:moveTo>
                <a:lnTo>
                  <a:pt x="3124571" y="0"/>
                </a:lnTo>
                <a:lnTo>
                  <a:pt x="3124571" y="2999588"/>
                </a:lnTo>
                <a:lnTo>
                  <a:pt x="0" y="29995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024388" y="1668146"/>
            <a:ext cx="5054378" cy="3087766"/>
          </a:xfrm>
          <a:custGeom>
            <a:avLst/>
            <a:gdLst/>
            <a:ahLst/>
            <a:cxnLst/>
            <a:rect r="r" b="b" t="t" l="l"/>
            <a:pathLst>
              <a:path h="3087766" w="5054378">
                <a:moveTo>
                  <a:pt x="0" y="0"/>
                </a:moveTo>
                <a:lnTo>
                  <a:pt x="5054379" y="0"/>
                </a:lnTo>
                <a:lnTo>
                  <a:pt x="5054379" y="3087766"/>
                </a:lnTo>
                <a:lnTo>
                  <a:pt x="0" y="30877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29725" y="7052296"/>
            <a:ext cx="3843706" cy="3822740"/>
          </a:xfrm>
          <a:custGeom>
            <a:avLst/>
            <a:gdLst/>
            <a:ahLst/>
            <a:cxnLst/>
            <a:rect r="r" b="b" t="t" l="l"/>
            <a:pathLst>
              <a:path h="3822740" w="3843706">
                <a:moveTo>
                  <a:pt x="0" y="0"/>
                </a:moveTo>
                <a:lnTo>
                  <a:pt x="3843705" y="0"/>
                </a:lnTo>
                <a:lnTo>
                  <a:pt x="3843705" y="3822740"/>
                </a:lnTo>
                <a:lnTo>
                  <a:pt x="0" y="382274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4646598" y="3886868"/>
            <a:ext cx="988441" cy="993450"/>
          </a:xfrm>
          <a:custGeom>
            <a:avLst/>
            <a:gdLst/>
            <a:ahLst/>
            <a:cxnLst/>
            <a:rect r="r" b="b" t="t" l="l"/>
            <a:pathLst>
              <a:path h="993450" w="988441">
                <a:moveTo>
                  <a:pt x="0" y="0"/>
                </a:moveTo>
                <a:lnTo>
                  <a:pt x="988441" y="0"/>
                </a:lnTo>
                <a:lnTo>
                  <a:pt x="988441" y="993450"/>
                </a:lnTo>
                <a:lnTo>
                  <a:pt x="0" y="9934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9" id="9"/>
          <p:cNvSpPr txBox="true"/>
          <p:nvPr/>
        </p:nvSpPr>
        <p:spPr>
          <a:xfrm rot="0">
            <a:off x="4183599" y="1954701"/>
            <a:ext cx="9377790" cy="1257438"/>
          </a:xfrm>
          <a:prstGeom prst="rect">
            <a:avLst/>
          </a:prstGeom>
        </p:spPr>
        <p:txBody>
          <a:bodyPr anchor="t" rtlCol="false" tIns="0" lIns="0" bIns="0" rIns="0">
            <a:spAutoFit/>
          </a:bodyPr>
          <a:lstStyle/>
          <a:p>
            <a:pPr algn="ctr" marL="0" indent="0" lvl="0">
              <a:lnSpc>
                <a:spcPts val="10239"/>
              </a:lnSpc>
            </a:pPr>
            <a:r>
              <a:rPr lang="en-US" sz="7313">
                <a:solidFill>
                  <a:srgbClr val="B53326"/>
                </a:solidFill>
                <a:latin typeface="Sensei"/>
                <a:ea typeface="Sensei"/>
                <a:cs typeface="Sensei"/>
                <a:sym typeface="Sensei"/>
              </a:rPr>
              <a:t>What is the Eucharist?</a:t>
            </a:r>
          </a:p>
        </p:txBody>
      </p:sp>
      <p:sp>
        <p:nvSpPr>
          <p:cNvPr name="TextBox 10" id="10"/>
          <p:cNvSpPr txBox="true"/>
          <p:nvPr/>
        </p:nvSpPr>
        <p:spPr>
          <a:xfrm rot="0">
            <a:off x="6210855" y="3974082"/>
            <a:ext cx="7237717" cy="657695"/>
          </a:xfrm>
          <a:prstGeom prst="rect">
            <a:avLst/>
          </a:prstGeom>
        </p:spPr>
        <p:txBody>
          <a:bodyPr anchor="t" rtlCol="false" tIns="0" lIns="0" bIns="0" rIns="0">
            <a:spAutoFit/>
          </a:bodyPr>
          <a:lstStyle/>
          <a:p>
            <a:pPr algn="l" marL="0" indent="0" lvl="0">
              <a:lnSpc>
                <a:spcPts val="5282"/>
              </a:lnSpc>
            </a:pPr>
            <a:r>
              <a:rPr lang="en-US" sz="3773" spc="211">
                <a:solidFill>
                  <a:srgbClr val="B53326"/>
                </a:solidFill>
                <a:latin typeface="DG Jory"/>
                <a:ea typeface="DG Jory"/>
                <a:cs typeface="DG Jory"/>
                <a:sym typeface="DG Jory"/>
              </a:rPr>
              <a:t>The bread becomes Jesus' Body!</a:t>
            </a:r>
          </a:p>
        </p:txBody>
      </p:sp>
      <p:sp>
        <p:nvSpPr>
          <p:cNvPr name="Freeform 11" id="11"/>
          <p:cNvSpPr/>
          <p:nvPr/>
        </p:nvSpPr>
        <p:spPr>
          <a:xfrm flipH="false" flipV="false" rot="0">
            <a:off x="4646598" y="5368186"/>
            <a:ext cx="988441" cy="993450"/>
          </a:xfrm>
          <a:custGeom>
            <a:avLst/>
            <a:gdLst/>
            <a:ahLst/>
            <a:cxnLst/>
            <a:rect r="r" b="b" t="t" l="l"/>
            <a:pathLst>
              <a:path h="993450" w="988441">
                <a:moveTo>
                  <a:pt x="0" y="0"/>
                </a:moveTo>
                <a:lnTo>
                  <a:pt x="988441" y="0"/>
                </a:lnTo>
                <a:lnTo>
                  <a:pt x="988441" y="993450"/>
                </a:lnTo>
                <a:lnTo>
                  <a:pt x="0" y="9934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4646598" y="6849503"/>
            <a:ext cx="988441" cy="993450"/>
          </a:xfrm>
          <a:custGeom>
            <a:avLst/>
            <a:gdLst/>
            <a:ahLst/>
            <a:cxnLst/>
            <a:rect r="r" b="b" t="t" l="l"/>
            <a:pathLst>
              <a:path h="993450" w="988441">
                <a:moveTo>
                  <a:pt x="0" y="0"/>
                </a:moveTo>
                <a:lnTo>
                  <a:pt x="988441" y="0"/>
                </a:lnTo>
                <a:lnTo>
                  <a:pt x="988441" y="993450"/>
                </a:lnTo>
                <a:lnTo>
                  <a:pt x="0" y="9934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3" id="13"/>
          <p:cNvSpPr txBox="true"/>
          <p:nvPr/>
        </p:nvSpPr>
        <p:spPr>
          <a:xfrm rot="0">
            <a:off x="6210855" y="5431133"/>
            <a:ext cx="7237717" cy="657695"/>
          </a:xfrm>
          <a:prstGeom prst="rect">
            <a:avLst/>
          </a:prstGeom>
        </p:spPr>
        <p:txBody>
          <a:bodyPr anchor="t" rtlCol="false" tIns="0" lIns="0" bIns="0" rIns="0">
            <a:spAutoFit/>
          </a:bodyPr>
          <a:lstStyle/>
          <a:p>
            <a:pPr algn="l" marL="0" indent="0" lvl="0">
              <a:lnSpc>
                <a:spcPts val="5282"/>
              </a:lnSpc>
            </a:pPr>
            <a:r>
              <a:rPr lang="en-US" sz="3773" spc="211">
                <a:solidFill>
                  <a:srgbClr val="B53326"/>
                </a:solidFill>
                <a:latin typeface="DG Jory"/>
                <a:ea typeface="DG Jory"/>
                <a:cs typeface="DG Jory"/>
                <a:sym typeface="DG Jory"/>
              </a:rPr>
              <a:t>The wine becomes Jesus' Blood!</a:t>
            </a:r>
          </a:p>
        </p:txBody>
      </p:sp>
      <p:sp>
        <p:nvSpPr>
          <p:cNvPr name="TextBox 14" id="14"/>
          <p:cNvSpPr txBox="true"/>
          <p:nvPr/>
        </p:nvSpPr>
        <p:spPr>
          <a:xfrm rot="0">
            <a:off x="6210855" y="6888184"/>
            <a:ext cx="7237717" cy="657695"/>
          </a:xfrm>
          <a:prstGeom prst="rect">
            <a:avLst/>
          </a:prstGeom>
        </p:spPr>
        <p:txBody>
          <a:bodyPr anchor="t" rtlCol="false" tIns="0" lIns="0" bIns="0" rIns="0">
            <a:spAutoFit/>
          </a:bodyPr>
          <a:lstStyle/>
          <a:p>
            <a:pPr algn="l" marL="0" indent="0" lvl="0">
              <a:lnSpc>
                <a:spcPts val="5282"/>
              </a:lnSpc>
            </a:pPr>
            <a:r>
              <a:rPr lang="en-US" sz="3773" spc="211">
                <a:solidFill>
                  <a:srgbClr val="B53326"/>
                </a:solidFill>
                <a:latin typeface="DG Jory"/>
                <a:ea typeface="DG Jory"/>
                <a:cs typeface="DG Jory"/>
                <a:sym typeface="DG Jory"/>
              </a:rPr>
              <a:t>It's Jesus' special gift to us!</a:t>
            </a:r>
          </a:p>
        </p:txBody>
      </p:sp>
    </p:spTree>
  </p:cSld>
  <p:clrMapOvr>
    <a:masterClrMapping/>
  </p:clrMapOvr>
  <p:transition spd="med">
    <p:circl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028700" y="794661"/>
            <a:ext cx="2931419" cy="3139404"/>
          </a:xfrm>
          <a:custGeom>
            <a:avLst/>
            <a:gdLst/>
            <a:ahLst/>
            <a:cxnLst/>
            <a:rect r="r" b="b" t="t" l="l"/>
            <a:pathLst>
              <a:path h="3139404" w="2931419">
                <a:moveTo>
                  <a:pt x="0" y="0"/>
                </a:moveTo>
                <a:lnTo>
                  <a:pt x="2931419" y="0"/>
                </a:lnTo>
                <a:lnTo>
                  <a:pt x="2931419" y="3139405"/>
                </a:lnTo>
                <a:lnTo>
                  <a:pt x="0" y="31394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504701" y="794661"/>
            <a:ext cx="2754599" cy="2686303"/>
          </a:xfrm>
          <a:custGeom>
            <a:avLst/>
            <a:gdLst/>
            <a:ahLst/>
            <a:cxnLst/>
            <a:rect r="r" b="b" t="t" l="l"/>
            <a:pathLst>
              <a:path h="2686303" w="2754599">
                <a:moveTo>
                  <a:pt x="0" y="0"/>
                </a:moveTo>
                <a:lnTo>
                  <a:pt x="2754599" y="0"/>
                </a:lnTo>
                <a:lnTo>
                  <a:pt x="2754599" y="2686303"/>
                </a:lnTo>
                <a:lnTo>
                  <a:pt x="0" y="26863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376829" y="7240813"/>
            <a:ext cx="4209473" cy="3104486"/>
          </a:xfrm>
          <a:custGeom>
            <a:avLst/>
            <a:gdLst/>
            <a:ahLst/>
            <a:cxnLst/>
            <a:rect r="r" b="b" t="t" l="l"/>
            <a:pathLst>
              <a:path h="3104486" w="4209473">
                <a:moveTo>
                  <a:pt x="4209472" y="0"/>
                </a:moveTo>
                <a:lnTo>
                  <a:pt x="0" y="0"/>
                </a:lnTo>
                <a:lnTo>
                  <a:pt x="0" y="3104487"/>
                </a:lnTo>
                <a:lnTo>
                  <a:pt x="4209472" y="3104487"/>
                </a:lnTo>
                <a:lnTo>
                  <a:pt x="4209472" y="0"/>
                </a:lnTo>
                <a:close/>
              </a:path>
            </a:pathLst>
          </a:custGeom>
          <a:blipFill>
            <a:blip r:embed="rId9"/>
            <a:stretch>
              <a:fillRect l="0" t="0" r="0" b="0"/>
            </a:stretch>
          </a:blipFill>
        </p:spPr>
      </p:sp>
      <p:sp>
        <p:nvSpPr>
          <p:cNvPr name="Freeform 7" id="7"/>
          <p:cNvSpPr/>
          <p:nvPr/>
        </p:nvSpPr>
        <p:spPr>
          <a:xfrm flipH="false" flipV="false" rot="0">
            <a:off x="13833557" y="7988838"/>
            <a:ext cx="4775404" cy="2538923"/>
          </a:xfrm>
          <a:custGeom>
            <a:avLst/>
            <a:gdLst/>
            <a:ahLst/>
            <a:cxnLst/>
            <a:rect r="r" b="b" t="t" l="l"/>
            <a:pathLst>
              <a:path h="2538923" w="4775404">
                <a:moveTo>
                  <a:pt x="0" y="0"/>
                </a:moveTo>
                <a:lnTo>
                  <a:pt x="4775404" y="0"/>
                </a:lnTo>
                <a:lnTo>
                  <a:pt x="4775404" y="2538924"/>
                </a:lnTo>
                <a:lnTo>
                  <a:pt x="0" y="2538924"/>
                </a:lnTo>
                <a:lnTo>
                  <a:pt x="0" y="0"/>
                </a:lnTo>
                <a:close/>
              </a:path>
            </a:pathLst>
          </a:custGeom>
          <a:blipFill>
            <a:blip r:embed="rId10"/>
            <a:stretch>
              <a:fillRect l="0" t="0" r="0" b="0"/>
            </a:stretch>
          </a:blipFill>
        </p:spPr>
      </p:sp>
      <p:sp>
        <p:nvSpPr>
          <p:cNvPr name="TextBox 8" id="8"/>
          <p:cNvSpPr txBox="true"/>
          <p:nvPr/>
        </p:nvSpPr>
        <p:spPr>
          <a:xfrm rot="0">
            <a:off x="4223605" y="1107035"/>
            <a:ext cx="9840789" cy="1213884"/>
          </a:xfrm>
          <a:prstGeom prst="rect">
            <a:avLst/>
          </a:prstGeom>
        </p:spPr>
        <p:txBody>
          <a:bodyPr anchor="t" rtlCol="false" tIns="0" lIns="0" bIns="0" rIns="0">
            <a:spAutoFit/>
          </a:bodyPr>
          <a:lstStyle/>
          <a:p>
            <a:pPr algn="ctr" marL="0" indent="0" lvl="0">
              <a:lnSpc>
                <a:spcPts val="9864"/>
              </a:lnSpc>
            </a:pPr>
            <a:r>
              <a:rPr lang="en-US" sz="7045">
                <a:solidFill>
                  <a:srgbClr val="B53326"/>
                </a:solidFill>
                <a:latin typeface="Sensei"/>
                <a:ea typeface="Sensei"/>
                <a:cs typeface="Sensei"/>
                <a:sym typeface="Sensei"/>
              </a:rPr>
              <a:t>We Say Thank You, Jesus!</a:t>
            </a:r>
          </a:p>
        </p:txBody>
      </p:sp>
      <p:sp>
        <p:nvSpPr>
          <p:cNvPr name="TextBox 9" id="9"/>
          <p:cNvSpPr txBox="true"/>
          <p:nvPr/>
        </p:nvSpPr>
        <p:spPr>
          <a:xfrm rot="0">
            <a:off x="3943298" y="2506807"/>
            <a:ext cx="10401404" cy="1481109"/>
          </a:xfrm>
          <a:prstGeom prst="rect">
            <a:avLst/>
          </a:prstGeom>
        </p:spPr>
        <p:txBody>
          <a:bodyPr anchor="t" rtlCol="false" tIns="0" lIns="0" bIns="0" rIns="0">
            <a:spAutoFit/>
          </a:bodyPr>
          <a:lstStyle/>
          <a:p>
            <a:pPr algn="just" marL="0" indent="0" lvl="0">
              <a:lnSpc>
                <a:spcPts val="3939"/>
              </a:lnSpc>
            </a:pPr>
            <a:r>
              <a:rPr lang="en-US" sz="2813" spc="157">
                <a:solidFill>
                  <a:srgbClr val="B53326"/>
                </a:solidFill>
                <a:latin typeface="DG Jory"/>
                <a:ea typeface="DG Jory"/>
                <a:cs typeface="DG Jory"/>
                <a:sym typeface="DG Jory"/>
              </a:rPr>
              <a:t>Thank You, Jesus, for loving us so much! You love us more than we can imagine. You gave us the greatest gift — Yourself! That is something truly amazing and wonderful!</a:t>
            </a:r>
          </a:p>
        </p:txBody>
      </p:sp>
      <p:sp>
        <p:nvSpPr>
          <p:cNvPr name="TextBox 10" id="10"/>
          <p:cNvSpPr txBox="true"/>
          <p:nvPr/>
        </p:nvSpPr>
        <p:spPr>
          <a:xfrm rot="0">
            <a:off x="3943298" y="5616823"/>
            <a:ext cx="10401404" cy="1976409"/>
          </a:xfrm>
          <a:prstGeom prst="rect">
            <a:avLst/>
          </a:prstGeom>
        </p:spPr>
        <p:txBody>
          <a:bodyPr anchor="t" rtlCol="false" tIns="0" lIns="0" bIns="0" rIns="0">
            <a:spAutoFit/>
          </a:bodyPr>
          <a:lstStyle/>
          <a:p>
            <a:pPr algn="just" marL="0" indent="0" lvl="0">
              <a:lnSpc>
                <a:spcPts val="3939"/>
              </a:lnSpc>
            </a:pPr>
            <a:r>
              <a:rPr lang="en-US" sz="2813" spc="157">
                <a:solidFill>
                  <a:srgbClr val="B53326"/>
                </a:solidFill>
                <a:latin typeface="DG Jory"/>
                <a:ea typeface="DG Jory"/>
                <a:cs typeface="DG Jory"/>
                <a:sym typeface="DG Jory"/>
              </a:rPr>
              <a:t>Thank You for giving us Your Body and Blood in the Holy Eucharist. Every time we receive You, we know how much You care for us. We are so happy and grateful for Your special gift of love!</a:t>
            </a:r>
          </a:p>
        </p:txBody>
      </p:sp>
    </p:spTree>
  </p:cSld>
  <p:clrMapOvr>
    <a:masterClrMapping/>
  </p:clrMapOvr>
  <p:transition spd="med">
    <p:circl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342313" y="8201767"/>
            <a:ext cx="6832973" cy="2273517"/>
          </a:xfrm>
          <a:custGeom>
            <a:avLst/>
            <a:gdLst/>
            <a:ahLst/>
            <a:cxnLst/>
            <a:rect r="r" b="b" t="t" l="l"/>
            <a:pathLst>
              <a:path h="2273517" w="6832973">
                <a:moveTo>
                  <a:pt x="0" y="0"/>
                </a:moveTo>
                <a:lnTo>
                  <a:pt x="6832973" y="0"/>
                </a:lnTo>
                <a:lnTo>
                  <a:pt x="6832973" y="2273516"/>
                </a:lnTo>
                <a:lnTo>
                  <a:pt x="0" y="2273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002049" y="7619043"/>
            <a:ext cx="5343307" cy="2856241"/>
          </a:xfrm>
          <a:custGeom>
            <a:avLst/>
            <a:gdLst/>
            <a:ahLst/>
            <a:cxnLst/>
            <a:rect r="r" b="b" t="t" l="l"/>
            <a:pathLst>
              <a:path h="2856241" w="5343307">
                <a:moveTo>
                  <a:pt x="0" y="0"/>
                </a:moveTo>
                <a:lnTo>
                  <a:pt x="5343307" y="0"/>
                </a:lnTo>
                <a:lnTo>
                  <a:pt x="5343307" y="2856240"/>
                </a:lnTo>
                <a:lnTo>
                  <a:pt x="0" y="28562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497654">
            <a:off x="1690388" y="64619"/>
            <a:ext cx="1973401" cy="3485035"/>
          </a:xfrm>
          <a:custGeom>
            <a:avLst/>
            <a:gdLst/>
            <a:ahLst/>
            <a:cxnLst/>
            <a:rect r="r" b="b" t="t" l="l"/>
            <a:pathLst>
              <a:path h="3485035" w="1973401">
                <a:moveTo>
                  <a:pt x="0" y="0"/>
                </a:moveTo>
                <a:lnTo>
                  <a:pt x="1973401" y="0"/>
                </a:lnTo>
                <a:lnTo>
                  <a:pt x="1973401" y="3485036"/>
                </a:lnTo>
                <a:lnTo>
                  <a:pt x="0" y="3485036"/>
                </a:lnTo>
                <a:lnTo>
                  <a:pt x="0" y="0"/>
                </a:lnTo>
                <a:close/>
              </a:path>
            </a:pathLst>
          </a:custGeom>
          <a:blipFill>
            <a:blip r:embed="rId9"/>
            <a:stretch>
              <a:fillRect l="0" t="0" r="0" b="0"/>
            </a:stretch>
          </a:blipFill>
        </p:spPr>
      </p:sp>
      <p:sp>
        <p:nvSpPr>
          <p:cNvPr name="Freeform 7" id="7"/>
          <p:cNvSpPr/>
          <p:nvPr/>
        </p:nvSpPr>
        <p:spPr>
          <a:xfrm flipH="false" flipV="false" rot="0">
            <a:off x="13002049" y="-140120"/>
            <a:ext cx="4695783" cy="2922720"/>
          </a:xfrm>
          <a:custGeom>
            <a:avLst/>
            <a:gdLst/>
            <a:ahLst/>
            <a:cxnLst/>
            <a:rect r="r" b="b" t="t" l="l"/>
            <a:pathLst>
              <a:path h="2922720" w="4695783">
                <a:moveTo>
                  <a:pt x="0" y="0"/>
                </a:moveTo>
                <a:lnTo>
                  <a:pt x="4695783" y="0"/>
                </a:lnTo>
                <a:lnTo>
                  <a:pt x="4695783" y="2922720"/>
                </a:lnTo>
                <a:lnTo>
                  <a:pt x="0" y="29227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3999913" y="3145354"/>
            <a:ext cx="5360798" cy="3396889"/>
          </a:xfrm>
          <a:prstGeom prst="rect">
            <a:avLst/>
          </a:prstGeom>
        </p:spPr>
        <p:txBody>
          <a:bodyPr anchor="t" rtlCol="false" tIns="0" lIns="0" bIns="0" rIns="0">
            <a:spAutoFit/>
          </a:bodyPr>
          <a:lstStyle/>
          <a:p>
            <a:pPr algn="just" marL="0" indent="0" lvl="0">
              <a:lnSpc>
                <a:spcPts val="3869"/>
              </a:lnSpc>
            </a:pPr>
            <a:r>
              <a:rPr lang="en-US" sz="2764" spc="154">
                <a:solidFill>
                  <a:srgbClr val="B53326"/>
                </a:solidFill>
                <a:latin typeface="DG Jory"/>
                <a:ea typeface="DG Jory"/>
                <a:cs typeface="DG Jory"/>
                <a:sym typeface="DG Jory"/>
              </a:rPr>
              <a:t>Draw a beautiful chalice and host! ✨</a:t>
            </a:r>
          </a:p>
          <a:p>
            <a:pPr algn="just" marL="0" indent="0" lvl="0">
              <a:lnSpc>
                <a:spcPts val="3869"/>
              </a:lnSpc>
            </a:pPr>
            <a:r>
              <a:rPr lang="en-US" sz="2764" spc="154">
                <a:solidFill>
                  <a:srgbClr val="B53326"/>
                </a:solidFill>
                <a:latin typeface="DG Jory"/>
                <a:ea typeface="DG Jory"/>
                <a:cs typeface="DG Jory"/>
                <a:sym typeface="DG Jory"/>
              </a:rPr>
              <a:t>A chalice looks like a fancy cup. The host is a round, flat bread.</a:t>
            </a:r>
          </a:p>
          <a:p>
            <a:pPr algn="just" marL="0" indent="0" lvl="0">
              <a:lnSpc>
                <a:spcPts val="3869"/>
              </a:lnSpc>
            </a:pPr>
            <a:r>
              <a:rPr lang="en-US" sz="2764" spc="154">
                <a:solidFill>
                  <a:srgbClr val="B53326"/>
                </a:solidFill>
                <a:latin typeface="DG Jory"/>
                <a:ea typeface="DG Jory"/>
                <a:cs typeface="DG Jory"/>
                <a:sym typeface="DG Jory"/>
              </a:rPr>
              <a:t>Jesus used these at the Last Supper to share His love with us!</a:t>
            </a:r>
          </a:p>
          <a:p>
            <a:pPr algn="just" marL="0" indent="0" lvl="0">
              <a:lnSpc>
                <a:spcPts val="3869"/>
              </a:lnSpc>
            </a:pPr>
            <a:r>
              <a:rPr lang="en-US" sz="2764" spc="154">
                <a:solidFill>
                  <a:srgbClr val="B53326"/>
                </a:solidFill>
                <a:latin typeface="DG Jory"/>
                <a:ea typeface="DG Jory"/>
                <a:cs typeface="DG Jory"/>
                <a:sym typeface="DG Jory"/>
              </a:rPr>
              <a:t>Get your crayons ready! 🎨</a:t>
            </a:r>
          </a:p>
        </p:txBody>
      </p:sp>
      <p:sp>
        <p:nvSpPr>
          <p:cNvPr name="TextBox 9" id="9"/>
          <p:cNvSpPr txBox="true"/>
          <p:nvPr/>
        </p:nvSpPr>
        <p:spPr>
          <a:xfrm rot="0">
            <a:off x="4254768" y="1525271"/>
            <a:ext cx="9840789" cy="1257438"/>
          </a:xfrm>
          <a:prstGeom prst="rect">
            <a:avLst/>
          </a:prstGeom>
        </p:spPr>
        <p:txBody>
          <a:bodyPr anchor="t" rtlCol="false" tIns="0" lIns="0" bIns="0" rIns="0">
            <a:spAutoFit/>
          </a:bodyPr>
          <a:lstStyle/>
          <a:p>
            <a:pPr algn="ctr" marL="0" indent="0" lvl="0">
              <a:lnSpc>
                <a:spcPts val="10239"/>
              </a:lnSpc>
            </a:pPr>
            <a:r>
              <a:rPr lang="en-US" sz="7313">
                <a:solidFill>
                  <a:srgbClr val="B53326"/>
                </a:solidFill>
                <a:latin typeface="Sensei"/>
                <a:ea typeface="Sensei"/>
                <a:cs typeface="Sensei"/>
                <a:sym typeface="Sensei"/>
              </a:rPr>
              <a:t>Art Time!</a:t>
            </a:r>
          </a:p>
        </p:txBody>
      </p:sp>
      <p:sp>
        <p:nvSpPr>
          <p:cNvPr name="TextBox 10" id="10"/>
          <p:cNvSpPr txBox="true"/>
          <p:nvPr/>
        </p:nvSpPr>
        <p:spPr>
          <a:xfrm rot="0">
            <a:off x="9615566" y="3145354"/>
            <a:ext cx="5360798" cy="4368439"/>
          </a:xfrm>
          <a:prstGeom prst="rect">
            <a:avLst/>
          </a:prstGeom>
        </p:spPr>
        <p:txBody>
          <a:bodyPr anchor="t" rtlCol="false" tIns="0" lIns="0" bIns="0" rIns="0">
            <a:spAutoFit/>
          </a:bodyPr>
          <a:lstStyle/>
          <a:p>
            <a:pPr algn="just" marL="0" indent="0" lvl="0">
              <a:lnSpc>
                <a:spcPts val="3869"/>
              </a:lnSpc>
            </a:pPr>
            <a:r>
              <a:rPr lang="en-US" sz="2764" spc="154">
                <a:solidFill>
                  <a:srgbClr val="B53326"/>
                </a:solidFill>
                <a:latin typeface="DG Jory"/>
                <a:ea typeface="DG Jory"/>
                <a:cs typeface="DG Jory"/>
                <a:sym typeface="DG Jory"/>
              </a:rPr>
              <a:t>How to Draw:</a:t>
            </a:r>
          </a:p>
          <a:p>
            <a:pPr algn="just" marL="0" indent="0" lvl="0">
              <a:lnSpc>
                <a:spcPts val="3869"/>
              </a:lnSpc>
            </a:pPr>
            <a:r>
              <a:rPr lang="en-US" sz="2764" spc="154">
                <a:solidFill>
                  <a:srgbClr val="B53326"/>
                </a:solidFill>
                <a:latin typeface="DG Jory"/>
                <a:ea typeface="DG Jory"/>
                <a:cs typeface="DG Jory"/>
                <a:sym typeface="DG Jory"/>
              </a:rPr>
              <a:t>★ Draw a big cup shape - that is your chalice!</a:t>
            </a:r>
          </a:p>
          <a:p>
            <a:pPr algn="just" marL="0" indent="0" lvl="0">
              <a:lnSpc>
                <a:spcPts val="3869"/>
              </a:lnSpc>
            </a:pPr>
            <a:r>
              <a:rPr lang="en-US" sz="2764" spc="154">
                <a:solidFill>
                  <a:srgbClr val="B53326"/>
                </a:solidFill>
                <a:latin typeface="DG Jory"/>
                <a:ea typeface="DG Jory"/>
                <a:cs typeface="DG Jory"/>
                <a:sym typeface="DG Jory"/>
              </a:rPr>
              <a:t>★ Draw a small circle above it - that is the host!</a:t>
            </a:r>
          </a:p>
          <a:p>
            <a:pPr algn="just" marL="0" indent="0" lvl="0">
              <a:lnSpc>
                <a:spcPts val="3869"/>
              </a:lnSpc>
            </a:pPr>
            <a:r>
              <a:rPr lang="en-US" sz="2764" spc="154">
                <a:solidFill>
                  <a:srgbClr val="B53326"/>
                </a:solidFill>
                <a:latin typeface="DG Jory"/>
                <a:ea typeface="DG Jory"/>
                <a:cs typeface="DG Jory"/>
                <a:sym typeface="DG Jory"/>
              </a:rPr>
              <a:t>★ Color them with bright, happy colors!</a:t>
            </a:r>
          </a:p>
          <a:p>
            <a:pPr algn="just" marL="0" indent="0" lvl="0">
              <a:lnSpc>
                <a:spcPts val="3869"/>
              </a:lnSpc>
            </a:pPr>
            <a:r>
              <a:rPr lang="en-US" sz="2764" spc="154">
                <a:solidFill>
                  <a:srgbClr val="B53326"/>
                </a:solidFill>
                <a:latin typeface="DG Jory"/>
                <a:ea typeface="DG Jory"/>
                <a:cs typeface="DG Jory"/>
                <a:sym typeface="DG Jory"/>
              </a:rPr>
              <a:t>★ Think of Jesus’ love as you create! ❤️</a:t>
            </a:r>
          </a:p>
        </p:txBody>
      </p:sp>
    </p:spTree>
  </p:cSld>
  <p:clrMapOvr>
    <a:masterClrMapping/>
  </p:clrMapOvr>
  <p:transition spd="med">
    <p:circl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32343" y="-1452569"/>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4352666" y="574542"/>
            <a:ext cx="3095531" cy="2805325"/>
          </a:xfrm>
          <a:custGeom>
            <a:avLst/>
            <a:gdLst/>
            <a:ahLst/>
            <a:cxnLst/>
            <a:rect r="r" b="b" t="t" l="l"/>
            <a:pathLst>
              <a:path h="2805325" w="3095531">
                <a:moveTo>
                  <a:pt x="0" y="0"/>
                </a:moveTo>
                <a:lnTo>
                  <a:pt x="3095531" y="0"/>
                </a:lnTo>
                <a:lnTo>
                  <a:pt x="3095531" y="2805325"/>
                </a:lnTo>
                <a:lnTo>
                  <a:pt x="0" y="2805325"/>
                </a:lnTo>
                <a:lnTo>
                  <a:pt x="0" y="0"/>
                </a:lnTo>
                <a:close/>
              </a:path>
            </a:pathLst>
          </a:custGeom>
          <a:blipFill>
            <a:blip r:embed="rId5"/>
            <a:stretch>
              <a:fillRect l="0" t="0" r="0" b="0"/>
            </a:stretch>
          </a:blipFill>
        </p:spPr>
      </p:sp>
      <p:sp>
        <p:nvSpPr>
          <p:cNvPr name="Freeform 5" id="5"/>
          <p:cNvSpPr/>
          <p:nvPr/>
        </p:nvSpPr>
        <p:spPr>
          <a:xfrm flipH="false" flipV="false" rot="0">
            <a:off x="14502042" y="7325141"/>
            <a:ext cx="3543098" cy="2830050"/>
          </a:xfrm>
          <a:custGeom>
            <a:avLst/>
            <a:gdLst/>
            <a:ahLst/>
            <a:cxnLst/>
            <a:rect r="r" b="b" t="t" l="l"/>
            <a:pathLst>
              <a:path h="2830050" w="3543098">
                <a:moveTo>
                  <a:pt x="0" y="0"/>
                </a:moveTo>
                <a:lnTo>
                  <a:pt x="3543098" y="0"/>
                </a:lnTo>
                <a:lnTo>
                  <a:pt x="3543098" y="2830049"/>
                </a:lnTo>
                <a:lnTo>
                  <a:pt x="0" y="2830049"/>
                </a:lnTo>
                <a:lnTo>
                  <a:pt x="0" y="0"/>
                </a:lnTo>
                <a:close/>
              </a:path>
            </a:pathLst>
          </a:custGeom>
          <a:blipFill>
            <a:blip r:embed="rId6"/>
            <a:stretch>
              <a:fillRect l="0" t="0" r="0" b="0"/>
            </a:stretch>
          </a:blipFill>
        </p:spPr>
      </p:sp>
      <p:sp>
        <p:nvSpPr>
          <p:cNvPr name="Freeform 6" id="6"/>
          <p:cNvSpPr/>
          <p:nvPr/>
        </p:nvSpPr>
        <p:spPr>
          <a:xfrm flipH="false" flipV="false" rot="0">
            <a:off x="123949" y="6443271"/>
            <a:ext cx="3683161" cy="5701744"/>
          </a:xfrm>
          <a:custGeom>
            <a:avLst/>
            <a:gdLst/>
            <a:ahLst/>
            <a:cxnLst/>
            <a:rect r="r" b="b" t="t" l="l"/>
            <a:pathLst>
              <a:path h="5701744" w="3683161">
                <a:moveTo>
                  <a:pt x="0" y="0"/>
                </a:moveTo>
                <a:lnTo>
                  <a:pt x="3683161" y="0"/>
                </a:lnTo>
                <a:lnTo>
                  <a:pt x="3683161" y="5701743"/>
                </a:lnTo>
                <a:lnTo>
                  <a:pt x="0" y="5701743"/>
                </a:lnTo>
                <a:lnTo>
                  <a:pt x="0" y="0"/>
                </a:lnTo>
                <a:close/>
              </a:path>
            </a:pathLst>
          </a:custGeom>
          <a:blipFill>
            <a:blip r:embed="rId7"/>
            <a:stretch>
              <a:fillRect l="0" t="0" r="0" b="0"/>
            </a:stretch>
          </a:blipFill>
        </p:spPr>
      </p:sp>
      <p:sp>
        <p:nvSpPr>
          <p:cNvPr name="Freeform 7" id="7"/>
          <p:cNvSpPr/>
          <p:nvPr/>
        </p:nvSpPr>
        <p:spPr>
          <a:xfrm flipH="false" flipV="false" rot="0">
            <a:off x="1356908" y="114447"/>
            <a:ext cx="2920592" cy="4106281"/>
          </a:xfrm>
          <a:custGeom>
            <a:avLst/>
            <a:gdLst/>
            <a:ahLst/>
            <a:cxnLst/>
            <a:rect r="r" b="b" t="t" l="l"/>
            <a:pathLst>
              <a:path h="4106281" w="2920592">
                <a:moveTo>
                  <a:pt x="0" y="0"/>
                </a:moveTo>
                <a:lnTo>
                  <a:pt x="2920593" y="0"/>
                </a:lnTo>
                <a:lnTo>
                  <a:pt x="2920593" y="4106281"/>
                </a:lnTo>
                <a:lnTo>
                  <a:pt x="0" y="4106281"/>
                </a:lnTo>
                <a:lnTo>
                  <a:pt x="0" y="0"/>
                </a:lnTo>
                <a:close/>
              </a:path>
            </a:pathLst>
          </a:custGeom>
          <a:blipFill>
            <a:blip r:embed="rId8"/>
            <a:stretch>
              <a:fillRect l="0" t="0" r="0" b="0"/>
            </a:stretch>
          </a:blipFill>
        </p:spPr>
      </p:sp>
      <p:sp>
        <p:nvSpPr>
          <p:cNvPr name="TextBox 8" id="8"/>
          <p:cNvSpPr txBox="true"/>
          <p:nvPr/>
        </p:nvSpPr>
        <p:spPr>
          <a:xfrm rot="0">
            <a:off x="4223605" y="1116560"/>
            <a:ext cx="9840789" cy="1145411"/>
          </a:xfrm>
          <a:prstGeom prst="rect">
            <a:avLst/>
          </a:prstGeom>
        </p:spPr>
        <p:txBody>
          <a:bodyPr anchor="t" rtlCol="false" tIns="0" lIns="0" bIns="0" rIns="0">
            <a:spAutoFit/>
          </a:bodyPr>
          <a:lstStyle/>
          <a:p>
            <a:pPr algn="ctr" marL="0" indent="0" lvl="0">
              <a:lnSpc>
                <a:spcPts val="9327"/>
              </a:lnSpc>
            </a:pPr>
            <a:r>
              <a:rPr lang="en-US" sz="6662">
                <a:solidFill>
                  <a:srgbClr val="B53326"/>
                </a:solidFill>
                <a:latin typeface="Sensei"/>
                <a:ea typeface="Sensei"/>
                <a:cs typeface="Sensei"/>
                <a:sym typeface="Sensei"/>
              </a:rPr>
              <a:t>Remember These 2 Things!</a:t>
            </a:r>
          </a:p>
        </p:txBody>
      </p:sp>
      <p:sp>
        <p:nvSpPr>
          <p:cNvPr name="TextBox 9" id="9"/>
          <p:cNvSpPr txBox="true"/>
          <p:nvPr/>
        </p:nvSpPr>
        <p:spPr>
          <a:xfrm rot="0">
            <a:off x="3943298" y="2506807"/>
            <a:ext cx="10401404" cy="2967009"/>
          </a:xfrm>
          <a:prstGeom prst="rect">
            <a:avLst/>
          </a:prstGeom>
        </p:spPr>
        <p:txBody>
          <a:bodyPr anchor="t" rtlCol="false" tIns="0" lIns="0" bIns="0" rIns="0">
            <a:spAutoFit/>
          </a:bodyPr>
          <a:lstStyle/>
          <a:p>
            <a:pPr algn="just" marL="607462" indent="-303731" lvl="1">
              <a:lnSpc>
                <a:spcPts val="3939"/>
              </a:lnSpc>
              <a:buAutoNum type="arabicPeriod" startAt="1"/>
            </a:pPr>
            <a:r>
              <a:rPr lang="en-US" sz="2813" spc="157">
                <a:solidFill>
                  <a:srgbClr val="B53326"/>
                </a:solidFill>
                <a:latin typeface="DG Jory"/>
                <a:ea typeface="DG Jory"/>
                <a:cs typeface="DG Jory"/>
                <a:sym typeface="DG Jory"/>
              </a:rPr>
              <a:t>Jesus gave us the Eucharist at the Last Supper. He took bread, gave thanks, and said, "This is my body, given for you." (Luke 22:19) What an amazing gift of love!</a:t>
            </a:r>
          </a:p>
          <a:p>
            <a:pPr algn="just" marL="607462" indent="-303731" lvl="1">
              <a:lnSpc>
                <a:spcPts val="3939"/>
              </a:lnSpc>
              <a:buAutoNum type="arabicPeriod" startAt="1"/>
            </a:pPr>
            <a:r>
              <a:rPr lang="en-US" sz="2813" spc="157">
                <a:solidFill>
                  <a:srgbClr val="B53326"/>
                </a:solidFill>
                <a:latin typeface="DG Jory"/>
                <a:ea typeface="DG Jory"/>
                <a:cs typeface="DG Jory"/>
                <a:sym typeface="DG Jory"/>
              </a:rPr>
              <a:t>We receive Jesus' love every time we go to Mass! When we receive Holy Communion, Jesus comes into our hearts. We are never alone — He is always with us!</a:t>
            </a:r>
          </a:p>
        </p:txBody>
      </p:sp>
    </p:spTree>
  </p:cSld>
  <p:clrMapOvr>
    <a:masterClrMapping/>
  </p:clrMapOvr>
  <p:transition spd="med">
    <p:circl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585" r="0" b="-16585"/>
            </a:stretch>
          </a:blipFill>
        </p:spPr>
      </p:sp>
      <p:sp>
        <p:nvSpPr>
          <p:cNvPr name="Freeform 3" id="3"/>
          <p:cNvSpPr/>
          <p:nvPr/>
        </p:nvSpPr>
        <p:spPr>
          <a:xfrm flipH="false" flipV="false" rot="5400000">
            <a:off x="4598709" y="-1537711"/>
            <a:ext cx="9090582" cy="13192138"/>
          </a:xfrm>
          <a:custGeom>
            <a:avLst/>
            <a:gdLst/>
            <a:ahLst/>
            <a:cxnLst/>
            <a:rect r="r" b="b" t="t" l="l"/>
            <a:pathLst>
              <a:path h="13192138" w="9090582">
                <a:moveTo>
                  <a:pt x="0" y="0"/>
                </a:moveTo>
                <a:lnTo>
                  <a:pt x="9090582" y="0"/>
                </a:lnTo>
                <a:lnTo>
                  <a:pt x="9090582" y="13192138"/>
                </a:lnTo>
                <a:lnTo>
                  <a:pt x="0" y="131921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2091157" y="3931706"/>
            <a:ext cx="14105687" cy="2828628"/>
          </a:xfrm>
          <a:prstGeom prst="rect">
            <a:avLst/>
          </a:prstGeom>
        </p:spPr>
        <p:txBody>
          <a:bodyPr anchor="t" rtlCol="false" tIns="0" lIns="0" bIns="0" rIns="0">
            <a:spAutoFit/>
          </a:bodyPr>
          <a:lstStyle/>
          <a:p>
            <a:pPr algn="ctr" marL="0" indent="0" lvl="0">
              <a:lnSpc>
                <a:spcPts val="4435"/>
              </a:lnSpc>
            </a:pPr>
            <a:r>
              <a:rPr lang="en-US" sz="4069">
                <a:solidFill>
                  <a:srgbClr val="B53326"/>
                </a:solidFill>
                <a:latin typeface="Sensei"/>
                <a:ea typeface="Sensei"/>
                <a:cs typeface="Sensei"/>
                <a:sym typeface="Sensei"/>
              </a:rPr>
              <a:t>Dear Jesus, thank You</a:t>
            </a:r>
          </a:p>
          <a:p>
            <a:pPr algn="ctr" marL="0" indent="0" lvl="0">
              <a:lnSpc>
                <a:spcPts val="4435"/>
              </a:lnSpc>
            </a:pPr>
            <a:r>
              <a:rPr lang="en-US" sz="4069">
                <a:solidFill>
                  <a:srgbClr val="B53326"/>
                </a:solidFill>
                <a:latin typeface="Sensei"/>
                <a:ea typeface="Sensei"/>
                <a:cs typeface="Sensei"/>
                <a:sym typeface="Sensei"/>
              </a:rPr>
              <a:t>for the gift of the</a:t>
            </a:r>
          </a:p>
          <a:p>
            <a:pPr algn="ctr" marL="0" indent="0" lvl="0">
              <a:lnSpc>
                <a:spcPts val="4435"/>
              </a:lnSpc>
            </a:pPr>
            <a:r>
              <a:rPr lang="en-US" sz="4069">
                <a:solidFill>
                  <a:srgbClr val="B53326"/>
                </a:solidFill>
                <a:latin typeface="Sensei"/>
                <a:ea typeface="Sensei"/>
                <a:cs typeface="Sensei"/>
                <a:sym typeface="Sensei"/>
              </a:rPr>
              <a:t>Eucharist. Help us always</a:t>
            </a:r>
          </a:p>
          <a:p>
            <a:pPr algn="ctr" marL="0" indent="0" lvl="0">
              <a:lnSpc>
                <a:spcPts val="4435"/>
              </a:lnSpc>
            </a:pPr>
            <a:r>
              <a:rPr lang="en-US" sz="4069">
                <a:solidFill>
                  <a:srgbClr val="B53326"/>
                </a:solidFill>
                <a:latin typeface="Sensei"/>
                <a:ea typeface="Sensei"/>
                <a:cs typeface="Sensei"/>
                <a:sym typeface="Sensei"/>
              </a:rPr>
              <a:t>remember Your love.</a:t>
            </a:r>
          </a:p>
          <a:p>
            <a:pPr algn="ctr" marL="0" indent="0" lvl="0">
              <a:lnSpc>
                <a:spcPts val="4435"/>
              </a:lnSpc>
            </a:pPr>
            <a:r>
              <a:rPr lang="en-US" sz="4069">
                <a:solidFill>
                  <a:srgbClr val="B53326"/>
                </a:solidFill>
                <a:latin typeface="Sensei"/>
                <a:ea typeface="Sensei"/>
                <a:cs typeface="Sensei"/>
                <a:sym typeface="Sensei"/>
              </a:rPr>
              <a:t>Amen! 🙏</a:t>
            </a:r>
          </a:p>
        </p:txBody>
      </p:sp>
      <p:sp>
        <p:nvSpPr>
          <p:cNvPr name="Freeform 5" id="5"/>
          <p:cNvSpPr/>
          <p:nvPr/>
        </p:nvSpPr>
        <p:spPr>
          <a:xfrm flipH="false" flipV="false" rot="0">
            <a:off x="1830291" y="6165033"/>
            <a:ext cx="3480472" cy="4426673"/>
          </a:xfrm>
          <a:custGeom>
            <a:avLst/>
            <a:gdLst/>
            <a:ahLst/>
            <a:cxnLst/>
            <a:rect r="r" b="b" t="t" l="l"/>
            <a:pathLst>
              <a:path h="4426673" w="3480472">
                <a:moveTo>
                  <a:pt x="0" y="0"/>
                </a:moveTo>
                <a:lnTo>
                  <a:pt x="3480472" y="0"/>
                </a:lnTo>
                <a:lnTo>
                  <a:pt x="3480472" y="4426673"/>
                </a:lnTo>
                <a:lnTo>
                  <a:pt x="0" y="4426673"/>
                </a:lnTo>
                <a:lnTo>
                  <a:pt x="0" y="0"/>
                </a:lnTo>
                <a:close/>
              </a:path>
            </a:pathLst>
          </a:custGeom>
          <a:blipFill>
            <a:blip r:embed="rId5"/>
            <a:stretch>
              <a:fillRect l="0" t="0" r="0" b="0"/>
            </a:stretch>
          </a:blipFill>
        </p:spPr>
      </p:sp>
      <p:sp>
        <p:nvSpPr>
          <p:cNvPr name="Freeform 6" id="6"/>
          <p:cNvSpPr/>
          <p:nvPr/>
        </p:nvSpPr>
        <p:spPr>
          <a:xfrm flipH="true" flipV="false" rot="0">
            <a:off x="1567709" y="623936"/>
            <a:ext cx="4005636" cy="2944142"/>
          </a:xfrm>
          <a:custGeom>
            <a:avLst/>
            <a:gdLst/>
            <a:ahLst/>
            <a:cxnLst/>
            <a:rect r="r" b="b" t="t" l="l"/>
            <a:pathLst>
              <a:path h="2944142" w="4005636">
                <a:moveTo>
                  <a:pt x="4005636" y="0"/>
                </a:moveTo>
                <a:lnTo>
                  <a:pt x="0" y="0"/>
                </a:lnTo>
                <a:lnTo>
                  <a:pt x="0" y="2944142"/>
                </a:lnTo>
                <a:lnTo>
                  <a:pt x="4005636" y="2944142"/>
                </a:lnTo>
                <a:lnTo>
                  <a:pt x="4005636" y="0"/>
                </a:lnTo>
                <a:close/>
              </a:path>
            </a:pathLst>
          </a:custGeom>
          <a:blipFill>
            <a:blip r:embed="rId6"/>
            <a:stretch>
              <a:fillRect l="0" t="0" r="0" b="0"/>
            </a:stretch>
          </a:blipFill>
        </p:spPr>
      </p:sp>
      <p:sp>
        <p:nvSpPr>
          <p:cNvPr name="Freeform 7" id="7"/>
          <p:cNvSpPr/>
          <p:nvPr/>
        </p:nvSpPr>
        <p:spPr>
          <a:xfrm flipH="false" flipV="false" rot="0">
            <a:off x="13449176" y="782104"/>
            <a:ext cx="2747667" cy="2785974"/>
          </a:xfrm>
          <a:custGeom>
            <a:avLst/>
            <a:gdLst/>
            <a:ahLst/>
            <a:cxnLst/>
            <a:rect r="r" b="b" t="t" l="l"/>
            <a:pathLst>
              <a:path h="2785974" w="2747667">
                <a:moveTo>
                  <a:pt x="0" y="0"/>
                </a:moveTo>
                <a:lnTo>
                  <a:pt x="2747667" y="0"/>
                </a:lnTo>
                <a:lnTo>
                  <a:pt x="2747667" y="2785974"/>
                </a:lnTo>
                <a:lnTo>
                  <a:pt x="0" y="2785974"/>
                </a:lnTo>
                <a:lnTo>
                  <a:pt x="0" y="0"/>
                </a:lnTo>
                <a:close/>
              </a:path>
            </a:pathLst>
          </a:custGeom>
          <a:blipFill>
            <a:blip r:embed="rId7"/>
            <a:stretch>
              <a:fillRect l="0" t="0" r="0" b="0"/>
            </a:stretch>
          </a:blipFill>
        </p:spPr>
      </p:sp>
      <p:sp>
        <p:nvSpPr>
          <p:cNvPr name="Freeform 8" id="8"/>
          <p:cNvSpPr/>
          <p:nvPr/>
        </p:nvSpPr>
        <p:spPr>
          <a:xfrm flipH="false" flipV="false" rot="0">
            <a:off x="13745605" y="7120794"/>
            <a:ext cx="2780343" cy="3744569"/>
          </a:xfrm>
          <a:custGeom>
            <a:avLst/>
            <a:gdLst/>
            <a:ahLst/>
            <a:cxnLst/>
            <a:rect r="r" b="b" t="t" l="l"/>
            <a:pathLst>
              <a:path h="3744569" w="2780343">
                <a:moveTo>
                  <a:pt x="0" y="0"/>
                </a:moveTo>
                <a:lnTo>
                  <a:pt x="2780343" y="0"/>
                </a:lnTo>
                <a:lnTo>
                  <a:pt x="2780343" y="3744569"/>
                </a:lnTo>
                <a:lnTo>
                  <a:pt x="0" y="3744569"/>
                </a:lnTo>
                <a:lnTo>
                  <a:pt x="0" y="0"/>
                </a:lnTo>
                <a:close/>
              </a:path>
            </a:pathLst>
          </a:custGeom>
          <a:blipFill>
            <a:blip r:embed="rId8"/>
            <a:stretch>
              <a:fillRect l="0" t="0" r="0" b="0"/>
            </a:stretch>
          </a:blipFill>
        </p:spPr>
      </p:sp>
    </p:spTree>
  </p:cSld>
  <p:clrMapOvr>
    <a:masterClrMapping/>
  </p:clrMapOvr>
  <p:transition spd="med">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DAHUFJZGkO4</dc:identifier>
  <dcterms:modified xsi:type="dcterms:W3CDTF">2011-08-01T06:04:30Z</dcterms:modified>
  <cp:revision>1</cp:revision>
</cp:coreProperties>
</file>